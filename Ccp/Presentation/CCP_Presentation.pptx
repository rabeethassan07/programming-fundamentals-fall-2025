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0" r:id="rId3"/>
    <p:sldId id="264" r:id="rId4"/>
    <p:sldId id="265" r:id="rId5"/>
    <p:sldId id="266" r:id="rId6"/>
    <p:sldId id="257" r:id="rId7"/>
    <p:sldId id="262" r:id="rId8"/>
    <p:sldId id="268" r:id="rId9"/>
    <p:sldId id="267" r:id="rId10"/>
    <p:sldId id="258" r:id="rId11"/>
    <p:sldId id="259" r:id="rId12"/>
    <p:sldId id="263" r:id="rId13"/>
    <p:sldId id="269" r:id="rId14"/>
    <p:sldId id="26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5269A0-F058-4F38-AF64-73B14EF1BB92}" type="datetimeFigureOut">
              <a:rPr lang="en-US" smtClean="0"/>
              <a:t>11/13/2025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132753-15D4-4C37-AD17-34214814E24E}" type="slidenum">
              <a:rPr lang="en-US" smtClean="0"/>
              <a:t>‹#›</a:t>
            </a:fld>
            <a:endParaRPr lang="en-US"/>
          </a:p>
        </p:txBody>
      </p:sp>
    </p:spTree>
    <p:extLst>
      <p:ext uri="{BB962C8B-B14F-4D97-AF65-F5344CB8AC3E}">
        <p14:creationId xmlns:p14="http://schemas.microsoft.com/office/powerpoint/2010/main" val="938064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132753-15D4-4C37-AD17-34214814E24E}" type="slidenum">
              <a:rPr lang="en-US" smtClean="0"/>
              <a:t>4</a:t>
            </a:fld>
            <a:endParaRPr lang="en-US"/>
          </a:p>
        </p:txBody>
      </p:sp>
    </p:spTree>
    <p:extLst>
      <p:ext uri="{BB962C8B-B14F-4D97-AF65-F5344CB8AC3E}">
        <p14:creationId xmlns:p14="http://schemas.microsoft.com/office/powerpoint/2010/main" val="311691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132753-15D4-4C37-AD17-34214814E24E}" type="slidenum">
              <a:rPr lang="en-US" smtClean="0"/>
              <a:t>11</a:t>
            </a:fld>
            <a:endParaRPr lang="en-US"/>
          </a:p>
        </p:txBody>
      </p:sp>
    </p:spTree>
    <p:extLst>
      <p:ext uri="{BB962C8B-B14F-4D97-AF65-F5344CB8AC3E}">
        <p14:creationId xmlns:p14="http://schemas.microsoft.com/office/powerpoint/2010/main" val="2305273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35"/>
            <a:ext cx="7772400" cy="1470025"/>
          </a:xfrm>
        </p:spPr>
        <p:txBody>
          <a:bodyPr/>
          <a:lstStyle/>
          <a:p>
            <a:r>
              <a:rPr dirty="0"/>
              <a:t>Intro</a:t>
            </a:r>
          </a:p>
        </p:txBody>
      </p:sp>
      <p:sp>
        <p:nvSpPr>
          <p:cNvPr id="3" name="Subtitle 2"/>
          <p:cNvSpPr>
            <a:spLocks noGrp="1"/>
          </p:cNvSpPr>
          <p:nvPr>
            <p:ph type="subTitle" idx="1"/>
          </p:nvPr>
        </p:nvSpPr>
        <p:spPr>
          <a:xfrm>
            <a:off x="1371600" y="1231324"/>
            <a:ext cx="6400800" cy="1752600"/>
          </a:xfrm>
        </p:spPr>
        <p:txBody>
          <a:bodyPr>
            <a:noAutofit/>
          </a:bodyPr>
          <a:lstStyle/>
          <a:p>
            <a:r>
              <a:rPr lang="en-US" sz="1600" dirty="0">
                <a:solidFill>
                  <a:schemeClr val="tx1"/>
                </a:solidFill>
                <a:latin typeface="Bahnschrift" panose="020B0502040204020203" pitchFamily="34" charset="0"/>
              </a:rPr>
              <a:t>An ideal voting system must come with its sets of criteria and principles on which an individual having a certain data that matches the criteria falls in the category of Eligibility.</a:t>
            </a:r>
          </a:p>
          <a:p>
            <a:r>
              <a:rPr lang="en-US" sz="1600" dirty="0">
                <a:solidFill>
                  <a:schemeClr val="tx1"/>
                </a:solidFill>
                <a:latin typeface="Bahnschrift" panose="020B0502040204020203" pitchFamily="34" charset="0"/>
              </a:rPr>
              <a:t> </a:t>
            </a:r>
            <a:r>
              <a:rPr lang="en-US" sz="1600" b="1" dirty="0">
                <a:solidFill>
                  <a:schemeClr val="tx1"/>
                </a:solidFill>
                <a:latin typeface="Bahnschrift" panose="020B0502040204020203" pitchFamily="34" charset="0"/>
              </a:rPr>
              <a:t>Which includes the following:</a:t>
            </a:r>
            <a:endParaRPr lang="en-US" sz="1600" dirty="0">
              <a:solidFill>
                <a:schemeClr val="tx1"/>
              </a:solidFill>
              <a:latin typeface="Bahnschrift" panose="020B0502040204020203" pitchFamily="34" charset="0"/>
            </a:endParaRPr>
          </a:p>
          <a:p>
            <a:pPr lvl="0"/>
            <a:r>
              <a:rPr lang="en-US" sz="1600" dirty="0">
                <a:solidFill>
                  <a:schemeClr val="tx1"/>
                </a:solidFill>
                <a:latin typeface="Bahnschrift" panose="020B0502040204020203" pitchFamily="34" charset="0"/>
              </a:rPr>
              <a:t>Name</a:t>
            </a:r>
          </a:p>
          <a:p>
            <a:pPr lvl="0"/>
            <a:r>
              <a:rPr lang="en-US" sz="1600" dirty="0">
                <a:solidFill>
                  <a:schemeClr val="tx1"/>
                </a:solidFill>
                <a:latin typeface="Bahnschrift" panose="020B0502040204020203" pitchFamily="34" charset="0"/>
              </a:rPr>
              <a:t>Citizen ship</a:t>
            </a:r>
          </a:p>
          <a:p>
            <a:pPr lvl="0"/>
            <a:r>
              <a:rPr lang="en-US" sz="1600" dirty="0">
                <a:solidFill>
                  <a:schemeClr val="tx1"/>
                </a:solidFill>
                <a:latin typeface="Bahnschrift" panose="020B0502040204020203" pitchFamily="34" charset="0"/>
              </a:rPr>
              <a:t>Age </a:t>
            </a:r>
          </a:p>
          <a:p>
            <a:pPr lvl="0"/>
            <a:r>
              <a:rPr lang="en-US" sz="1600" dirty="0">
                <a:solidFill>
                  <a:schemeClr val="tx1"/>
                </a:solidFill>
                <a:latin typeface="Bahnschrift" panose="020B0502040204020203" pitchFamily="34" charset="0"/>
              </a:rPr>
              <a:t>Gender</a:t>
            </a:r>
          </a:p>
          <a:p>
            <a:pPr lvl="0"/>
            <a:r>
              <a:rPr lang="en-US" sz="1600" dirty="0">
                <a:solidFill>
                  <a:schemeClr val="tx1"/>
                </a:solidFill>
                <a:latin typeface="Bahnschrift" panose="020B0502040204020203" pitchFamily="34" charset="0"/>
              </a:rPr>
              <a:t>CNIC (proof of his nationality)</a:t>
            </a:r>
          </a:p>
          <a:p>
            <a:pPr lvl="0"/>
            <a:r>
              <a:rPr lang="en-US" sz="1600" dirty="0">
                <a:solidFill>
                  <a:schemeClr val="tx1"/>
                </a:solidFill>
                <a:latin typeface="Bahnschrift" panose="020B0502040204020203" pitchFamily="34" charset="0"/>
              </a:rPr>
              <a:t>His Status (in country/or/abroad/or/visiting)</a:t>
            </a:r>
          </a:p>
          <a:p>
            <a:pPr lvl="0"/>
            <a:r>
              <a:rPr lang="en-US" sz="1600" dirty="0">
                <a:solidFill>
                  <a:schemeClr val="tx1"/>
                </a:solidFill>
                <a:latin typeface="Bahnschrift" panose="020B0502040204020203" pitchFamily="34" charset="0"/>
              </a:rPr>
              <a:t>Employment </a:t>
            </a:r>
          </a:p>
          <a:p>
            <a:pPr lvl="0"/>
            <a:r>
              <a:rPr lang="en-US" sz="1600" dirty="0">
                <a:solidFill>
                  <a:schemeClr val="tx1"/>
                </a:solidFill>
                <a:latin typeface="Bahnschrift" panose="020B0502040204020203" pitchFamily="34" charset="0"/>
              </a:rPr>
              <a:t>Type of Employment</a:t>
            </a:r>
          </a:p>
          <a:p>
            <a:r>
              <a:rPr lang="en-US" sz="1600" dirty="0">
                <a:solidFill>
                  <a:schemeClr val="tx1"/>
                </a:solidFill>
                <a:latin typeface="Bahnschrift" panose="020B0502040204020203" pitchFamily="34" charset="0"/>
              </a:rPr>
              <a:t> </a:t>
            </a:r>
          </a:p>
          <a:p>
            <a:r>
              <a:rPr lang="en-US" sz="1600" b="1" dirty="0">
                <a:solidFill>
                  <a:schemeClr val="tx1"/>
                </a:solidFill>
                <a:latin typeface="Bahnschrift" panose="020B0502040204020203" pitchFamily="34" charset="0"/>
              </a:rPr>
              <a:t>With the most important being:</a:t>
            </a:r>
            <a:endParaRPr lang="en-US" sz="1600" dirty="0">
              <a:solidFill>
                <a:schemeClr val="tx1"/>
              </a:solidFill>
              <a:latin typeface="Bahnschrift" panose="020B0502040204020203" pitchFamily="34" charset="0"/>
            </a:endParaRPr>
          </a:p>
          <a:p>
            <a:r>
              <a:rPr lang="en-US" sz="1600" dirty="0">
                <a:solidFill>
                  <a:schemeClr val="tx1"/>
                </a:solidFill>
                <a:latin typeface="Bahnschrift" panose="020B0502040204020203" pitchFamily="34" charset="0"/>
              </a:rPr>
              <a:t> </a:t>
            </a:r>
          </a:p>
          <a:p>
            <a:pPr lvl="0"/>
            <a:r>
              <a:rPr lang="en-US" sz="1600" dirty="0">
                <a:solidFill>
                  <a:schemeClr val="tx1"/>
                </a:solidFill>
                <a:latin typeface="Bahnschrift" panose="020B0502040204020203" pitchFamily="34" charset="0"/>
              </a:rPr>
              <a:t>Citizen ship (person voting must be of this country)</a:t>
            </a:r>
          </a:p>
          <a:p>
            <a:pPr lvl="0"/>
            <a:r>
              <a:rPr lang="en-US" sz="1600" dirty="0">
                <a:solidFill>
                  <a:schemeClr val="tx1"/>
                </a:solidFill>
                <a:latin typeface="Bahnschrift" panose="020B0502040204020203" pitchFamily="34" charset="0"/>
              </a:rPr>
              <a:t>Name (person uses his real name or not to fake it)</a:t>
            </a:r>
          </a:p>
          <a:p>
            <a:pPr lvl="0"/>
            <a:r>
              <a:rPr lang="en-US" sz="1600" dirty="0">
                <a:solidFill>
                  <a:schemeClr val="tx1"/>
                </a:solidFill>
                <a:latin typeface="Bahnschrift" panose="020B0502040204020203" pitchFamily="34" charset="0"/>
              </a:rPr>
              <a:t>CNIC (person has proof of his nationality)</a:t>
            </a:r>
          </a:p>
          <a:p>
            <a:pPr lvl="0"/>
            <a:r>
              <a:rPr lang="en-US" sz="1600" dirty="0">
                <a:solidFill>
                  <a:schemeClr val="tx1"/>
                </a:solidFill>
                <a:latin typeface="Bahnschrift" panose="020B0502040204020203" pitchFamily="34" charset="0"/>
              </a:rPr>
              <a:t>Age (person must be at least 18)</a:t>
            </a:r>
          </a:p>
          <a:p>
            <a:endParaRPr sz="1600" dirty="0">
              <a:solidFill>
                <a:schemeClr val="tx1"/>
              </a:solidFill>
              <a:latin typeface="Bahnschrift" panose="020B0502040204020203"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81" y="185593"/>
            <a:ext cx="7772400" cy="1470025"/>
          </a:xfrm>
        </p:spPr>
        <p:txBody>
          <a:bodyPr/>
          <a:lstStyle/>
          <a:p>
            <a:r>
              <a:rPr dirty="0"/>
              <a:t>Flowchart</a:t>
            </a:r>
          </a:p>
        </p:txBody>
      </p:sp>
      <p:sp>
        <p:nvSpPr>
          <p:cNvPr id="3" name="Subtitle 2"/>
          <p:cNvSpPr>
            <a:spLocks noGrp="1"/>
          </p:cNvSpPr>
          <p:nvPr>
            <p:ph type="subTitle" idx="1"/>
          </p:nvPr>
        </p:nvSpPr>
        <p:spPr>
          <a:xfrm>
            <a:off x="1371600" y="2237509"/>
            <a:ext cx="6400800" cy="1752600"/>
          </a:xfrm>
        </p:spPr>
        <p:txBody>
          <a:bodyPr/>
          <a:lstStyle/>
          <a:p>
            <a:r>
              <a:rPr lang="en-US" dirty="0"/>
              <a:t> </a:t>
            </a:r>
            <a:endParaRPr dirty="0"/>
          </a:p>
        </p:txBody>
      </p:sp>
      <p:pic>
        <p:nvPicPr>
          <p:cNvPr id="4" name="Picture 3" descr="voting_flowchart_part1.png"/>
          <p:cNvPicPr>
            <a:picLocks noChangeAspect="1"/>
          </p:cNvPicPr>
          <p:nvPr/>
        </p:nvPicPr>
        <p:blipFill>
          <a:blip r:embed="rId2"/>
          <a:stretch>
            <a:fillRect/>
          </a:stretch>
        </p:blipFill>
        <p:spPr>
          <a:xfrm>
            <a:off x="2468169" y="1344943"/>
            <a:ext cx="3944351" cy="5513057"/>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pic>
        <p:nvPicPr>
          <p:cNvPr id="3" name="Picture 2" descr="C:\Users\HP\Desktop\WhatsApp Image 2025-11-12 at 23.58.18_6a3f3931.jpg"/>
          <p:cNvPicPr/>
          <p:nvPr/>
        </p:nvPicPr>
        <p:blipFill>
          <a:blip r:embed="rId2">
            <a:extLst>
              <a:ext uri="{28A0092B-C50C-407E-A947-70E740481C1C}">
                <a14:useLocalDpi xmlns:a14="http://schemas.microsoft.com/office/drawing/2010/main" val="0"/>
              </a:ext>
            </a:extLst>
          </a:blip>
          <a:srcRect/>
          <a:stretch>
            <a:fillRect/>
          </a:stretch>
        </p:blipFill>
        <p:spPr bwMode="auto">
          <a:xfrm>
            <a:off x="2108675" y="0"/>
            <a:ext cx="4926649" cy="7596303"/>
          </a:xfrm>
          <a:prstGeom prst="rect">
            <a:avLst/>
          </a:prstGeom>
          <a:noFill/>
          <a:ln>
            <a:noFill/>
          </a:ln>
        </p:spPr>
      </p:pic>
    </p:spTree>
    <p:extLst>
      <p:ext uri="{BB962C8B-B14F-4D97-AF65-F5344CB8AC3E}">
        <p14:creationId xmlns:p14="http://schemas.microsoft.com/office/powerpoint/2010/main" val="2503370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pic>
        <p:nvPicPr>
          <p:cNvPr id="3" name="Picture 2" descr="voting_flowchart_part3.png"/>
          <p:cNvPicPr/>
          <p:nvPr/>
        </p:nvPicPr>
        <p:blipFill>
          <a:blip r:embed="rId3"/>
          <a:stretch>
            <a:fillRect/>
          </a:stretch>
        </p:blipFill>
        <p:spPr>
          <a:xfrm>
            <a:off x="1988128" y="274638"/>
            <a:ext cx="4689764" cy="5990973"/>
          </a:xfrm>
          <a:prstGeom prst="rect">
            <a:avLst/>
          </a:prstGeom>
        </p:spPr>
      </p:pic>
    </p:spTree>
    <p:extLst>
      <p:ext uri="{BB962C8B-B14F-4D97-AF65-F5344CB8AC3E}">
        <p14:creationId xmlns:p14="http://schemas.microsoft.com/office/powerpoint/2010/main" val="2532125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pic>
        <p:nvPicPr>
          <p:cNvPr id="3" name="Picture 2" descr="voting_flowchart_part4.png"/>
          <p:cNvPicPr/>
          <p:nvPr/>
        </p:nvPicPr>
        <p:blipFill>
          <a:blip r:embed="rId2"/>
          <a:stretch>
            <a:fillRect/>
          </a:stretch>
        </p:blipFill>
        <p:spPr>
          <a:xfrm>
            <a:off x="2092035" y="274638"/>
            <a:ext cx="4717473" cy="6026370"/>
          </a:xfrm>
          <a:prstGeom prst="rect">
            <a:avLst/>
          </a:prstGeom>
        </p:spPr>
      </p:pic>
    </p:spTree>
    <p:extLst>
      <p:ext uri="{BB962C8B-B14F-4D97-AF65-F5344CB8AC3E}">
        <p14:creationId xmlns:p14="http://schemas.microsoft.com/office/powerpoint/2010/main" val="3740442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77248"/>
            <a:ext cx="7772400" cy="1470025"/>
          </a:xfrm>
        </p:spPr>
        <p:txBody>
          <a:bodyPr/>
          <a:lstStyle/>
          <a:p>
            <a:r>
              <a:rPr dirty="0"/>
              <a:t>The Code</a:t>
            </a:r>
          </a:p>
        </p:txBody>
      </p:sp>
      <p:sp>
        <p:nvSpPr>
          <p:cNvPr id="3" name="Subtitle 2"/>
          <p:cNvSpPr>
            <a:spLocks noGrp="1"/>
          </p:cNvSpPr>
          <p:nvPr>
            <p:ph type="subTitle" idx="1"/>
          </p:nvPr>
        </p:nvSpPr>
        <p:spPr>
          <a:xfrm>
            <a:off x="1371600" y="865909"/>
            <a:ext cx="6400800" cy="1752600"/>
          </a:xfrm>
        </p:spPr>
        <p:txBody>
          <a:bodyPr>
            <a:noAutofit/>
          </a:bodyPr>
          <a:lstStyle/>
          <a:p>
            <a:r>
              <a:rPr lang="en-US" sz="900" dirty="0">
                <a:solidFill>
                  <a:schemeClr val="tx1"/>
                </a:solidFill>
                <a:latin typeface="Arial Black" panose="020B0A04020102020204" pitchFamily="34" charset="0"/>
              </a:rPr>
              <a:t>#include &lt;</a:t>
            </a:r>
            <a:r>
              <a:rPr lang="en-US" sz="900" dirty="0" err="1">
                <a:solidFill>
                  <a:schemeClr val="tx1"/>
                </a:solidFill>
                <a:latin typeface="Arial Black" panose="020B0A04020102020204" pitchFamily="34" charset="0"/>
              </a:rPr>
              <a:t>stdio.h</a:t>
            </a:r>
            <a:r>
              <a:rPr lang="en-US" sz="900" dirty="0">
                <a:solidFill>
                  <a:schemeClr val="tx1"/>
                </a:solidFill>
                <a:latin typeface="Arial Black" panose="020B0A04020102020204" pitchFamily="34" charset="0"/>
              </a:rPr>
              <a:t>&gt;</a:t>
            </a:r>
          </a:p>
          <a:p>
            <a:r>
              <a:rPr lang="en-US" sz="900" dirty="0">
                <a:solidFill>
                  <a:schemeClr val="tx1"/>
                </a:solidFill>
                <a:latin typeface="Arial Black" panose="020B0A04020102020204" pitchFamily="34" charset="0"/>
              </a:rPr>
              <a:t>#include &lt;</a:t>
            </a:r>
            <a:r>
              <a:rPr lang="en-US" sz="900" dirty="0" err="1">
                <a:solidFill>
                  <a:schemeClr val="tx1"/>
                </a:solidFill>
                <a:latin typeface="Arial Black" panose="020B0A04020102020204" pitchFamily="34" charset="0"/>
              </a:rPr>
              <a:t>string.h</a:t>
            </a:r>
            <a:r>
              <a:rPr lang="en-US" sz="900" dirty="0">
                <a:solidFill>
                  <a:schemeClr val="tx1"/>
                </a:solidFill>
                <a:latin typeface="Arial Black" panose="020B0A04020102020204" pitchFamily="34" charset="0"/>
              </a:rPr>
              <a:t>&gt;</a:t>
            </a:r>
          </a:p>
          <a:p>
            <a:r>
              <a:rPr lang="en-US" sz="900" dirty="0" err="1">
                <a:solidFill>
                  <a:schemeClr val="tx1"/>
                </a:solidFill>
                <a:latin typeface="Arial Black" panose="020B0A04020102020204" pitchFamily="34" charset="0"/>
              </a:rPr>
              <a:t>int</a:t>
            </a:r>
            <a:r>
              <a:rPr lang="en-US" sz="900" dirty="0">
                <a:solidFill>
                  <a:schemeClr val="tx1"/>
                </a:solidFill>
                <a:latin typeface="Arial Black" panose="020B0A04020102020204" pitchFamily="34" charset="0"/>
              </a:rPr>
              <a:t> main(){</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int</a:t>
            </a:r>
            <a:r>
              <a:rPr lang="en-US" sz="900" dirty="0">
                <a:solidFill>
                  <a:schemeClr val="tx1"/>
                </a:solidFill>
                <a:latin typeface="Arial Black" panose="020B0A04020102020204" pitchFamily="34" charset="0"/>
              </a:rPr>
              <a:t> d, </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("Enter number of people: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&amp;d);    </a:t>
            </a:r>
          </a:p>
          <a:p>
            <a:r>
              <a:rPr lang="en-US" sz="900" dirty="0">
                <a:solidFill>
                  <a:schemeClr val="tx1"/>
                </a:solidFill>
                <a:latin typeface="Arial Black" panose="020B0A04020102020204" pitchFamily="34" charset="0"/>
              </a:rPr>
              <a:t>    // Arrays to store data for each person ................... present </a:t>
            </a:r>
            <a:r>
              <a:rPr lang="en-US" sz="900" dirty="0" err="1">
                <a:solidFill>
                  <a:schemeClr val="tx1"/>
                </a:solidFill>
                <a:latin typeface="Arial Black" panose="020B0A04020102020204" pitchFamily="34" charset="0"/>
              </a:rPr>
              <a:t>int</a:t>
            </a:r>
            <a:r>
              <a:rPr lang="en-US" sz="900" dirty="0">
                <a:solidFill>
                  <a:schemeClr val="tx1"/>
                </a:solidFill>
                <a:latin typeface="Arial Black" panose="020B0A04020102020204" pitchFamily="34" charset="0"/>
              </a:rPr>
              <a:t> he dry run table</a:t>
            </a:r>
          </a:p>
          <a:p>
            <a:r>
              <a:rPr lang="en-US" sz="900" dirty="0">
                <a:solidFill>
                  <a:schemeClr val="tx1"/>
                </a:solidFill>
                <a:latin typeface="Arial Black" panose="020B0A04020102020204" pitchFamily="34" charset="0"/>
              </a:rPr>
              <a:t>    char citizen[d][20];</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int</a:t>
            </a:r>
            <a:r>
              <a:rPr lang="en-US" sz="900" dirty="0">
                <a:solidFill>
                  <a:schemeClr val="tx1"/>
                </a:solidFill>
                <a:latin typeface="Arial Black" panose="020B0A04020102020204" pitchFamily="34" charset="0"/>
              </a:rPr>
              <a:t> age[d], gender[d], </a:t>
            </a:r>
            <a:r>
              <a:rPr lang="en-US" sz="900" dirty="0" err="1">
                <a:solidFill>
                  <a:schemeClr val="tx1"/>
                </a:solidFill>
                <a:latin typeface="Arial Black" panose="020B0A04020102020204" pitchFamily="34" charset="0"/>
              </a:rPr>
              <a:t>cnic</a:t>
            </a:r>
            <a:r>
              <a:rPr lang="en-US" sz="900" dirty="0">
                <a:solidFill>
                  <a:schemeClr val="tx1"/>
                </a:solidFill>
                <a:latin typeface="Arial Black" panose="020B0A04020102020204" pitchFamily="34" charset="0"/>
              </a:rPr>
              <a:t>[d], status[d], working[d], </a:t>
            </a:r>
            <a:r>
              <a:rPr lang="en-US" sz="900" dirty="0" err="1">
                <a:solidFill>
                  <a:schemeClr val="tx1"/>
                </a:solidFill>
                <a:latin typeface="Arial Black" panose="020B0A04020102020204" pitchFamily="34" charset="0"/>
              </a:rPr>
              <a:t>jobType</a:t>
            </a:r>
            <a:r>
              <a:rPr lang="en-US" sz="900" dirty="0">
                <a:solidFill>
                  <a:schemeClr val="tx1"/>
                </a:solidFill>
                <a:latin typeface="Arial Black" panose="020B0A04020102020204" pitchFamily="34" charset="0"/>
              </a:rPr>
              <a:t>[d];</a:t>
            </a:r>
          </a:p>
          <a:p>
            <a:r>
              <a:rPr lang="en-US" sz="900" dirty="0">
                <a:solidFill>
                  <a:schemeClr val="tx1"/>
                </a:solidFill>
                <a:latin typeface="Arial Black" panose="020B0A04020102020204" pitchFamily="34" charset="0"/>
              </a:rPr>
              <a:t>    for (</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 = 0; </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 &lt; d; </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("\n--- Person %d ---\n", </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 + 1);</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("Do you possess Citizenship of which country?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("%s", citizen[</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endParaRPr lang="en-US" sz="900" dirty="0">
              <a:solidFill>
                <a:schemeClr val="tx1"/>
              </a:solidFill>
              <a:latin typeface="Arial Black" panose="020B0A04020102020204" pitchFamily="34" charset="0"/>
            </a:endParaRP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("Enter Age: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&amp;age[</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r>
              <a:rPr lang="en-US" sz="900" dirty="0">
                <a:solidFill>
                  <a:schemeClr val="tx1"/>
                </a:solidFill>
                <a:latin typeface="Arial Black" panose="020B0A04020102020204" pitchFamily="34" charset="0"/>
              </a:rPr>
              <a:t>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("Enter your Gender (1=Male, 2=Female):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&amp;gender[</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endParaRPr lang="en-US" sz="900" dirty="0">
              <a:solidFill>
                <a:schemeClr val="tx1"/>
              </a:solidFill>
              <a:latin typeface="Arial Black" panose="020B0A04020102020204" pitchFamily="34" charset="0"/>
            </a:endParaRP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("Do you have a CNIC? (1=Yes, 2=No):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a:t>
            </a:r>
            <a:r>
              <a:rPr lang="en-US" sz="900" dirty="0" err="1">
                <a:solidFill>
                  <a:schemeClr val="tx1"/>
                </a:solidFill>
                <a:latin typeface="Arial Black" panose="020B0A04020102020204" pitchFamily="34" charset="0"/>
              </a:rPr>
              <a:t>cnic</a:t>
            </a:r>
            <a:r>
              <a:rPr lang="en-US" sz="900" dirty="0">
                <a:solidFill>
                  <a:schemeClr val="tx1"/>
                </a:solidFill>
                <a:latin typeface="Arial Black" panose="020B0A04020102020204" pitchFamily="34" charset="0"/>
              </a:rPr>
              <a:t>[</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endParaRPr lang="en-US" sz="900" dirty="0">
              <a:solidFill>
                <a:schemeClr val="tx1"/>
              </a:solidFill>
              <a:latin typeface="Arial Black" panose="020B0A04020102020204" pitchFamily="34" charset="0"/>
            </a:endParaRP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("Enter Status (1=Abroad, 2=In Country):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&amp;status[</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endParaRPr lang="en-US" sz="900" dirty="0">
              <a:solidFill>
                <a:schemeClr val="tx1"/>
              </a:solidFill>
              <a:latin typeface="Arial Black" panose="020B0A04020102020204" pitchFamily="34" charset="0"/>
            </a:endParaRP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("Are you Working? (1=Yes, 2=No):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&amp;working[</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endParaRPr lang="en-US" sz="900" dirty="0">
              <a:solidFill>
                <a:schemeClr val="tx1"/>
              </a:solidFill>
              <a:latin typeface="Arial Black" panose="020B0A04020102020204" pitchFamily="34" charset="0"/>
            </a:endParaRPr>
          </a:p>
          <a:p>
            <a:r>
              <a:rPr lang="en-US" sz="900" dirty="0">
                <a:solidFill>
                  <a:schemeClr val="tx1"/>
                </a:solidFill>
                <a:latin typeface="Arial Black" panose="020B0A04020102020204" pitchFamily="34" charset="0"/>
              </a:rPr>
              <a:t>        if (working[</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 == 1){</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printf</a:t>
            </a:r>
            <a:r>
              <a:rPr lang="en-US" sz="900" dirty="0">
                <a:solidFill>
                  <a:schemeClr val="tx1"/>
                </a:solidFill>
                <a:latin typeface="Arial Black" panose="020B0A04020102020204" pitchFamily="34" charset="0"/>
              </a:rPr>
              <a:t>("If working, enter job type (1=Government, 2=Private): ");</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scanf</a:t>
            </a:r>
            <a:r>
              <a:rPr lang="en-US" sz="900" dirty="0">
                <a:solidFill>
                  <a:schemeClr val="tx1"/>
                </a:solidFill>
                <a:latin typeface="Arial Black" panose="020B0A04020102020204" pitchFamily="34" charset="0"/>
              </a:rPr>
              <a:t>("%d", &amp;</a:t>
            </a:r>
            <a:r>
              <a:rPr lang="en-US" sz="900" dirty="0" err="1">
                <a:solidFill>
                  <a:schemeClr val="tx1"/>
                </a:solidFill>
                <a:latin typeface="Arial Black" panose="020B0A04020102020204" pitchFamily="34" charset="0"/>
              </a:rPr>
              <a:t>jobType</a:t>
            </a:r>
            <a:r>
              <a:rPr lang="en-US" sz="900" dirty="0">
                <a:solidFill>
                  <a:schemeClr val="tx1"/>
                </a:solidFill>
                <a:latin typeface="Arial Black" panose="020B0A04020102020204" pitchFamily="34" charset="0"/>
              </a:rPr>
              <a:t>[</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a:t>
            </a:r>
          </a:p>
          <a:p>
            <a:r>
              <a:rPr lang="en-US" sz="900" dirty="0">
                <a:solidFill>
                  <a:schemeClr val="tx1"/>
                </a:solidFill>
                <a:latin typeface="Arial Black" panose="020B0A04020102020204" pitchFamily="34" charset="0"/>
              </a:rPr>
              <a:t>      }else{</a:t>
            </a:r>
          </a:p>
          <a:p>
            <a:r>
              <a:rPr lang="en-US" sz="900" dirty="0">
                <a:solidFill>
                  <a:schemeClr val="tx1"/>
                </a:solidFill>
                <a:latin typeface="Arial Black" panose="020B0A04020102020204" pitchFamily="34" charset="0"/>
              </a:rPr>
              <a:t>            </a:t>
            </a:r>
            <a:r>
              <a:rPr lang="en-US" sz="900" dirty="0" err="1">
                <a:solidFill>
                  <a:schemeClr val="tx1"/>
                </a:solidFill>
                <a:latin typeface="Arial Black" panose="020B0A04020102020204" pitchFamily="34" charset="0"/>
              </a:rPr>
              <a:t>jobType</a:t>
            </a:r>
            <a:r>
              <a:rPr lang="en-US" sz="900" dirty="0">
                <a:solidFill>
                  <a:schemeClr val="tx1"/>
                </a:solidFill>
                <a:latin typeface="Arial Black" panose="020B0A04020102020204" pitchFamily="34" charset="0"/>
              </a:rPr>
              <a:t>[</a:t>
            </a:r>
            <a:r>
              <a:rPr lang="en-US" sz="900" dirty="0" err="1">
                <a:solidFill>
                  <a:schemeClr val="tx1"/>
                </a:solidFill>
                <a:latin typeface="Arial Black" panose="020B0A04020102020204" pitchFamily="34" charset="0"/>
              </a:rPr>
              <a:t>i</a:t>
            </a:r>
            <a:r>
              <a:rPr lang="en-US" sz="900" dirty="0">
                <a:solidFill>
                  <a:schemeClr val="tx1"/>
                </a:solidFill>
                <a:latin typeface="Arial Black" panose="020B0A04020102020204" pitchFamily="34" charset="0"/>
              </a:rPr>
              <a:t>] = 0; // Not applicable</a:t>
            </a:r>
          </a:p>
          <a:p>
            <a:r>
              <a:rPr lang="en-US" sz="900" dirty="0">
                <a:solidFill>
                  <a:schemeClr val="tx1"/>
                </a:solidFill>
                <a:latin typeface="Arial Black" panose="020B0A04020102020204" pitchFamily="34" charset="0"/>
              </a:rPr>
              <a:t>        }</a:t>
            </a:r>
          </a:p>
          <a:p>
            <a:r>
              <a:rPr lang="en-US" sz="900" dirty="0">
                <a:solidFill>
                  <a:schemeClr val="tx1"/>
                </a:solidFill>
                <a:latin typeface="Arial Black" panose="020B0A04020102020204" pitchFamily="34" charset="0"/>
              </a:rPr>
              <a:t>    }</a:t>
            </a:r>
            <a:endParaRPr sz="900" dirty="0">
              <a:solidFill>
                <a:schemeClr val="tx1"/>
              </a:solidFill>
              <a:latin typeface="Arial Black" panose="020B0A040201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331" y="6942282"/>
            <a:ext cx="7772400" cy="1362075"/>
          </a:xfrm>
        </p:spPr>
        <p:txBody>
          <a:bodyPr/>
          <a:lstStyle/>
          <a:p>
            <a:r>
              <a:rPr lang="en-US" dirty="0"/>
              <a:t> </a:t>
            </a:r>
          </a:p>
        </p:txBody>
      </p:sp>
      <p:sp>
        <p:nvSpPr>
          <p:cNvPr id="3" name="Text Placeholder 2"/>
          <p:cNvSpPr>
            <a:spLocks noGrp="1"/>
          </p:cNvSpPr>
          <p:nvPr>
            <p:ph type="body" idx="1"/>
          </p:nvPr>
        </p:nvSpPr>
        <p:spPr>
          <a:xfrm>
            <a:off x="474808" y="5139459"/>
            <a:ext cx="7772400" cy="1500187"/>
          </a:xfrm>
        </p:spPr>
        <p:txBody>
          <a:bodyPr>
            <a:noAutofit/>
          </a:bodyPr>
          <a:lstStyle/>
          <a:p>
            <a:pPr algn="ct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("\n===== Voting Eligibility Results =====\n");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for (</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0; </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&lt; d; </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a:t>
            </a:r>
            <a:r>
              <a:rPr lang="en-US" sz="1200" dirty="0" err="1">
                <a:solidFill>
                  <a:schemeClr val="tx1"/>
                </a:solidFill>
                <a:latin typeface="Arial Black" panose="020B0A04020102020204" pitchFamily="34" charset="0"/>
              </a:rPr>
              <a:t>nPerson</a:t>
            </a:r>
            <a:r>
              <a:rPr lang="en-US" sz="1200" dirty="0">
                <a:solidFill>
                  <a:schemeClr val="tx1"/>
                </a:solidFill>
                <a:latin typeface="Arial Black" panose="020B0A04020102020204" pitchFamily="34" charset="0"/>
              </a:rPr>
              <a:t> %d:\n", </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+ 1);</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("Citizen: %s | Age: %d | CNIC: %s | Status: %s\n",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citizen[</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age[</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cnic</a:t>
            </a:r>
            <a:r>
              <a:rPr lang="en-US" sz="1200" dirty="0">
                <a:solidFill>
                  <a:schemeClr val="tx1"/>
                </a:solidFill>
                <a:latin typeface="Arial Black" panose="020B0A04020102020204" pitchFamily="34" charset="0"/>
              </a:rPr>
              <a:t>[</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1 ? "Yes" : "No",</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status[</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1 ? "Abroad" : "In Country");</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 Voting eligibility check</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if (</a:t>
            </a:r>
            <a:r>
              <a:rPr lang="en-US" sz="1200" dirty="0" err="1">
                <a:solidFill>
                  <a:schemeClr val="tx1"/>
                </a:solidFill>
                <a:latin typeface="Arial Black" panose="020B0A04020102020204" pitchFamily="34" charset="0"/>
              </a:rPr>
              <a:t>strcmp</a:t>
            </a:r>
            <a:r>
              <a:rPr lang="en-US" sz="1200" dirty="0">
                <a:solidFill>
                  <a:schemeClr val="tx1"/>
                </a:solidFill>
                <a:latin typeface="Arial Black" panose="020B0A04020102020204" pitchFamily="34" charset="0"/>
              </a:rPr>
              <a:t>(citizen[</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"Pakistan") == 0 &amp;&amp; age[</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&gt;= 18 &amp;&amp; age[</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&lt; 110 &amp;&amp; </a:t>
            </a:r>
            <a:r>
              <a:rPr lang="en-US" sz="1200" dirty="0" err="1">
                <a:solidFill>
                  <a:schemeClr val="tx1"/>
                </a:solidFill>
                <a:latin typeface="Arial Black" panose="020B0A04020102020204" pitchFamily="34" charset="0"/>
              </a:rPr>
              <a:t>cnic</a:t>
            </a:r>
            <a:r>
              <a:rPr lang="en-US" sz="1200" dirty="0">
                <a:solidFill>
                  <a:schemeClr val="tx1"/>
                </a:solidFill>
                <a:latin typeface="Arial Black" panose="020B0A04020102020204" pitchFamily="34" charset="0"/>
              </a:rPr>
              <a:t>[</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1)</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 Eligible to Vote\n");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else</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 Not Eligible to Vote\n");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 Work details</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if (working[</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1)</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if (</a:t>
            </a:r>
            <a:r>
              <a:rPr lang="en-US" sz="1200" dirty="0" err="1">
                <a:solidFill>
                  <a:schemeClr val="tx1"/>
                </a:solidFill>
                <a:latin typeface="Arial Black" panose="020B0A04020102020204" pitchFamily="34" charset="0"/>
              </a:rPr>
              <a:t>jobType</a:t>
            </a:r>
            <a:r>
              <a:rPr lang="en-US" sz="1200" dirty="0">
                <a:solidFill>
                  <a:schemeClr val="tx1"/>
                </a:solidFill>
                <a:latin typeface="Arial Black" panose="020B0A04020102020204" pitchFamily="34" charset="0"/>
              </a:rPr>
              <a:t>[</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1)</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("Employment: Government Worker\n");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else if (</a:t>
            </a:r>
            <a:r>
              <a:rPr lang="en-US" sz="1200" dirty="0" err="1">
                <a:solidFill>
                  <a:schemeClr val="tx1"/>
                </a:solidFill>
                <a:latin typeface="Arial Black" panose="020B0A04020102020204" pitchFamily="34" charset="0"/>
              </a:rPr>
              <a:t>jobType</a:t>
            </a:r>
            <a:r>
              <a:rPr lang="en-US" sz="1200" dirty="0">
                <a:solidFill>
                  <a:schemeClr val="tx1"/>
                </a:solidFill>
                <a:latin typeface="Arial Black" panose="020B0A04020102020204" pitchFamily="34" charset="0"/>
              </a:rPr>
              <a:t>[</a:t>
            </a:r>
            <a:r>
              <a:rPr lang="en-US" sz="1200" dirty="0" err="1">
                <a:solidFill>
                  <a:schemeClr val="tx1"/>
                </a:solidFill>
                <a:latin typeface="Arial Black" panose="020B0A04020102020204" pitchFamily="34" charset="0"/>
              </a:rPr>
              <a:t>i</a:t>
            </a:r>
            <a:r>
              <a:rPr lang="en-US" sz="1200" dirty="0">
                <a:solidFill>
                  <a:schemeClr val="tx1"/>
                </a:solidFill>
                <a:latin typeface="Arial Black" panose="020B0A04020102020204" pitchFamily="34" charset="0"/>
              </a:rPr>
              <a:t>] == 2)</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("Employment: Private Worker\n");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else</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r>
              <a:rPr lang="en-US" sz="1200" dirty="0" err="1">
                <a:solidFill>
                  <a:schemeClr val="tx1"/>
                </a:solidFill>
                <a:latin typeface="Arial Black" panose="020B0A04020102020204" pitchFamily="34" charset="0"/>
              </a:rPr>
              <a:t>printf</a:t>
            </a:r>
            <a:r>
              <a:rPr lang="en-US" sz="1200" dirty="0">
                <a:solidFill>
                  <a:schemeClr val="tx1"/>
                </a:solidFill>
                <a:latin typeface="Arial Black" panose="020B0A04020102020204" pitchFamily="34" charset="0"/>
              </a:rPr>
              <a:t>("Employment: Jobless\n");</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    return 0;</a:t>
            </a:r>
            <a:br>
              <a:rPr lang="en-US" sz="1200" dirty="0">
                <a:solidFill>
                  <a:schemeClr val="tx1"/>
                </a:solidFill>
                <a:latin typeface="Arial Black" panose="020B0A04020102020204" pitchFamily="34" charset="0"/>
              </a:rPr>
            </a:br>
            <a:r>
              <a:rPr lang="en-US" sz="1200" dirty="0">
                <a:solidFill>
                  <a:schemeClr val="tx1"/>
                </a:solidFill>
                <a:latin typeface="Arial Black" panose="020B0A04020102020204" pitchFamily="34" charset="0"/>
              </a:rPr>
              <a:t>}</a:t>
            </a:r>
          </a:p>
        </p:txBody>
      </p:sp>
    </p:spTree>
    <p:extLst>
      <p:ext uri="{BB962C8B-B14F-4D97-AF65-F5344CB8AC3E}">
        <p14:creationId xmlns:p14="http://schemas.microsoft.com/office/powerpoint/2010/main" val="1512847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16057"/>
            <a:ext cx="8229600" cy="1143000"/>
          </a:xfrm>
        </p:spPr>
        <p:txBody>
          <a:bodyPr>
            <a:normAutofit/>
          </a:bodyPr>
          <a:lstStyle/>
          <a:p>
            <a:r>
              <a:rPr lang="en-US" sz="6000" dirty="0"/>
              <a:t>The Output of Code</a:t>
            </a:r>
          </a:p>
        </p:txBody>
      </p:sp>
      <p:sp>
        <p:nvSpPr>
          <p:cNvPr id="3" name="Content Placeholder 2"/>
          <p:cNvSpPr>
            <a:spLocks noGrp="1"/>
          </p:cNvSpPr>
          <p:nvPr>
            <p:ph idx="1"/>
          </p:nvPr>
        </p:nvSpPr>
        <p:spPr>
          <a:xfrm>
            <a:off x="290945" y="5299363"/>
            <a:ext cx="8229600" cy="4525963"/>
          </a:xfrm>
        </p:spPr>
        <p:txBody>
          <a:bodyPr/>
          <a:lstStyle/>
          <a:p>
            <a:pPr marL="0" indent="0">
              <a:buNone/>
            </a:pPr>
            <a:r>
              <a:rPr lang="en-US" dirty="0"/>
              <a:t> </a:t>
            </a:r>
          </a:p>
        </p:txBody>
      </p:sp>
    </p:spTree>
    <p:extLst>
      <p:ext uri="{BB962C8B-B14F-4D97-AF65-F5344CB8AC3E}">
        <p14:creationId xmlns:p14="http://schemas.microsoft.com/office/powerpoint/2010/main" val="2517752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6934"/>
            <a:ext cx="7772400" cy="1470025"/>
          </a:xfrm>
        </p:spPr>
        <p:txBody>
          <a:bodyPr/>
          <a:lstStyle/>
          <a:p>
            <a:r>
              <a:rPr lang="en-US" dirty="0"/>
              <a:t>The Code Output</a:t>
            </a:r>
          </a:p>
        </p:txBody>
      </p:sp>
      <p:pic>
        <p:nvPicPr>
          <p:cNvPr id="4" name="Picture 3"/>
          <p:cNvPicPr>
            <a:picLocks noChangeAspect="1"/>
          </p:cNvPicPr>
          <p:nvPr/>
        </p:nvPicPr>
        <p:blipFill>
          <a:blip r:embed="rId2"/>
          <a:stretch>
            <a:fillRect/>
          </a:stretch>
        </p:blipFill>
        <p:spPr>
          <a:xfrm>
            <a:off x="-1848746" y="227291"/>
            <a:ext cx="12841492" cy="6344535"/>
          </a:xfrm>
          <a:prstGeom prst="rect">
            <a:avLst/>
          </a:prstGeom>
        </p:spPr>
      </p:pic>
      <p:sp>
        <p:nvSpPr>
          <p:cNvPr id="3" name="Subtitle 2"/>
          <p:cNvSpPr>
            <a:spLocks noGrp="1"/>
          </p:cNvSpPr>
          <p:nvPr>
            <p:ph type="subTitle" idx="1"/>
          </p:nvPr>
        </p:nvSpPr>
        <p:spPr>
          <a:xfrm>
            <a:off x="1371600" y="1646959"/>
            <a:ext cx="6400800" cy="1752600"/>
          </a:xfrm>
        </p:spPr>
        <p:txBody>
          <a:bodyPr/>
          <a:lstStyle/>
          <a:p>
            <a:r>
              <a:rPr lang="en-US" dirty="0"/>
              <a:t> </a:t>
            </a:r>
          </a:p>
        </p:txBody>
      </p:sp>
    </p:spTree>
    <p:extLst>
      <p:ext uri="{BB962C8B-B14F-4D97-AF65-F5344CB8AC3E}">
        <p14:creationId xmlns:p14="http://schemas.microsoft.com/office/powerpoint/2010/main" val="3748703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20280"/>
            <a:ext cx="7772400" cy="1470025"/>
          </a:xfrm>
        </p:spPr>
        <p:txBody>
          <a:bodyPr/>
          <a:lstStyle/>
          <a:p>
            <a:r>
              <a:rPr dirty="0"/>
              <a:t>Dry Run Table</a:t>
            </a:r>
          </a:p>
        </p:txBody>
      </p:sp>
      <p:pic>
        <p:nvPicPr>
          <p:cNvPr id="5" name="Picture 4"/>
          <p:cNvPicPr>
            <a:picLocks noChangeAspect="1"/>
          </p:cNvPicPr>
          <p:nvPr/>
        </p:nvPicPr>
        <p:blipFill>
          <a:blip r:embed="rId2"/>
          <a:stretch>
            <a:fillRect/>
          </a:stretch>
        </p:blipFill>
        <p:spPr>
          <a:xfrm>
            <a:off x="804336" y="2776104"/>
            <a:ext cx="7535327" cy="2372056"/>
          </a:xfrm>
          <a:prstGeom prst="rect">
            <a:avLst/>
          </a:prstGeom>
        </p:spPr>
      </p:pic>
      <p:sp>
        <p:nvSpPr>
          <p:cNvPr id="3" name="Subtitle 2"/>
          <p:cNvSpPr>
            <a:spLocks noGrp="1"/>
          </p:cNvSpPr>
          <p:nvPr>
            <p:ph type="subTitle" idx="1"/>
          </p:nvPr>
        </p:nvSpPr>
        <p:spPr>
          <a:xfrm>
            <a:off x="1191491" y="3406486"/>
            <a:ext cx="6400800" cy="1752600"/>
          </a:xfrm>
        </p:spPr>
        <p:txBody>
          <a:bodyPr/>
          <a:lstStyle/>
          <a:p>
            <a:r>
              <a:rPr lang="en-US" dirty="0"/>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4643"/>
            <a:ext cx="7772400" cy="1470025"/>
          </a:xfrm>
        </p:spPr>
        <p:txBody>
          <a:bodyPr/>
          <a:lstStyle/>
          <a:p>
            <a:r>
              <a:rPr dirty="0"/>
              <a:t>CCP Data</a:t>
            </a:r>
          </a:p>
        </p:txBody>
      </p:sp>
      <p:sp>
        <p:nvSpPr>
          <p:cNvPr id="3" name="Subtitle 2"/>
          <p:cNvSpPr>
            <a:spLocks noGrp="1"/>
          </p:cNvSpPr>
          <p:nvPr>
            <p:ph type="subTitle" idx="1"/>
          </p:nvPr>
        </p:nvSpPr>
        <p:spPr>
          <a:xfrm>
            <a:off x="1371600" y="1524000"/>
            <a:ext cx="6400800" cy="1752600"/>
          </a:xfrm>
        </p:spPr>
        <p:txBody>
          <a:bodyPr/>
          <a:lstStyle/>
          <a:p>
            <a:r>
              <a:rPr lang="en-US" dirty="0"/>
              <a:t> </a:t>
            </a:r>
            <a:endParaRPr dirty="0"/>
          </a:p>
        </p:txBody>
      </p:sp>
      <p:pic>
        <p:nvPicPr>
          <p:cNvPr id="5" name="Picture 4"/>
          <p:cNvPicPr>
            <a:picLocks noChangeAspect="1"/>
          </p:cNvPicPr>
          <p:nvPr/>
        </p:nvPicPr>
        <p:blipFill>
          <a:blip r:embed="rId3"/>
          <a:stretch>
            <a:fillRect/>
          </a:stretch>
        </p:blipFill>
        <p:spPr>
          <a:xfrm>
            <a:off x="232757" y="1674668"/>
            <a:ext cx="8678486" cy="44487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329334"/>
            <a:ext cx="7772400" cy="1470025"/>
          </a:xfrm>
        </p:spPr>
        <p:txBody>
          <a:bodyPr/>
          <a:lstStyle/>
          <a:p>
            <a:r>
              <a:rPr lang="en-US" dirty="0"/>
              <a:t> </a:t>
            </a:r>
          </a:p>
        </p:txBody>
      </p:sp>
      <p:sp>
        <p:nvSpPr>
          <p:cNvPr id="4" name="Subtitle 3"/>
          <p:cNvSpPr>
            <a:spLocks noGrp="1"/>
          </p:cNvSpPr>
          <p:nvPr>
            <p:ph type="subTitle" idx="1"/>
          </p:nvPr>
        </p:nvSpPr>
        <p:spPr/>
        <p:txBody>
          <a:bodyPr/>
          <a:lstStyle/>
          <a:p>
            <a:r>
              <a:rPr lang="en-US" dirty="0"/>
              <a:t> </a:t>
            </a:r>
          </a:p>
        </p:txBody>
      </p:sp>
      <p:pic>
        <p:nvPicPr>
          <p:cNvPr id="7" name="Picture 6">
            <a:extLst>
              <a:ext uri="{FF2B5EF4-FFF2-40B4-BE49-F238E27FC236}">
                <a16:creationId xmlns:a16="http://schemas.microsoft.com/office/drawing/2014/main" id="{A8A3683F-FE61-421E-89D5-8AC827CAF02E}"/>
              </a:ext>
            </a:extLst>
          </p:cNvPr>
          <p:cNvPicPr>
            <a:picLocks noChangeAspect="1"/>
          </p:cNvPicPr>
          <p:nvPr/>
        </p:nvPicPr>
        <p:blipFill>
          <a:blip r:embed="rId2"/>
          <a:stretch>
            <a:fillRect/>
          </a:stretch>
        </p:blipFill>
        <p:spPr>
          <a:xfrm>
            <a:off x="828153" y="556580"/>
            <a:ext cx="7487694" cy="2485558"/>
          </a:xfrm>
          <a:prstGeom prst="rect">
            <a:avLst/>
          </a:prstGeom>
        </p:spPr>
      </p:pic>
      <p:pic>
        <p:nvPicPr>
          <p:cNvPr id="9" name="Picture 8">
            <a:extLst>
              <a:ext uri="{FF2B5EF4-FFF2-40B4-BE49-F238E27FC236}">
                <a16:creationId xmlns:a16="http://schemas.microsoft.com/office/drawing/2014/main" id="{CEABA55A-B6A7-4629-A4F7-6B70E1A21443}"/>
              </a:ext>
            </a:extLst>
          </p:cNvPr>
          <p:cNvPicPr>
            <a:picLocks noChangeAspect="1"/>
          </p:cNvPicPr>
          <p:nvPr/>
        </p:nvPicPr>
        <p:blipFill>
          <a:blip r:embed="rId3"/>
          <a:stretch>
            <a:fillRect/>
          </a:stretch>
        </p:blipFill>
        <p:spPr>
          <a:xfrm>
            <a:off x="828151" y="2989384"/>
            <a:ext cx="7487695" cy="2295845"/>
          </a:xfrm>
          <a:prstGeom prst="rect">
            <a:avLst/>
          </a:prstGeom>
        </p:spPr>
      </p:pic>
    </p:spTree>
    <p:extLst>
      <p:ext uri="{BB962C8B-B14F-4D97-AF65-F5344CB8AC3E}">
        <p14:creationId xmlns:p14="http://schemas.microsoft.com/office/powerpoint/2010/main" val="366063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691"/>
            <a:ext cx="8229600" cy="1143000"/>
          </a:xfrm>
        </p:spPr>
        <p:txBody>
          <a:bodyPr/>
          <a:lstStyle/>
          <a:p>
            <a:r>
              <a:rPr lang="en-US" dirty="0" smtClean="0"/>
              <a:t>The Pseudo Code</a:t>
            </a:r>
            <a:endParaRPr lang="en-US" dirty="0"/>
          </a:p>
        </p:txBody>
      </p:sp>
      <p:sp>
        <p:nvSpPr>
          <p:cNvPr id="3" name="Content Placeholder 2"/>
          <p:cNvSpPr>
            <a:spLocks noGrp="1"/>
          </p:cNvSpPr>
          <p:nvPr>
            <p:ph idx="1"/>
          </p:nvPr>
        </p:nvSpPr>
        <p:spPr>
          <a:xfrm>
            <a:off x="457200" y="1267691"/>
            <a:ext cx="8229600" cy="4525963"/>
          </a:xfrm>
        </p:spPr>
        <p:txBody>
          <a:bodyPr>
            <a:noAutofit/>
          </a:bodyPr>
          <a:lstStyle/>
          <a:p>
            <a:pPr marL="457200" lvl="1" indent="0">
              <a:buNone/>
            </a:pPr>
            <a:r>
              <a:rPr lang="en-US" sz="1600" b="1" dirty="0" smtClean="0"/>
              <a:t>Start</a:t>
            </a:r>
          </a:p>
          <a:p>
            <a:pPr marL="457200" lvl="1" indent="0">
              <a:buNone/>
            </a:pPr>
            <a:r>
              <a:rPr lang="en-US" sz="1600" dirty="0" smtClean="0"/>
              <a:t>d</a:t>
            </a:r>
            <a:r>
              <a:rPr lang="en-US" sz="1600" dirty="0"/>
              <a:t>, </a:t>
            </a:r>
            <a:r>
              <a:rPr lang="en-US" sz="1600" dirty="0" err="1"/>
              <a:t>i</a:t>
            </a:r>
            <a:endParaRPr lang="en-US" sz="1600" dirty="0"/>
          </a:p>
          <a:p>
            <a:pPr marL="457200" lvl="1" indent="0">
              <a:buNone/>
            </a:pPr>
            <a:r>
              <a:rPr lang="en-US" sz="1600" dirty="0"/>
              <a:t>Arrays: citizen[d][20], age[d], gender[d], </a:t>
            </a:r>
            <a:r>
              <a:rPr lang="en-US" sz="1600" dirty="0" err="1"/>
              <a:t>cnic</a:t>
            </a:r>
            <a:r>
              <a:rPr lang="en-US" sz="1600" dirty="0"/>
              <a:t>[d], status[d], working[d], job Type[d]</a:t>
            </a:r>
          </a:p>
          <a:p>
            <a:pPr marL="457200" lvl="1" indent="0">
              <a:buNone/>
            </a:pPr>
            <a:r>
              <a:rPr lang="en-US" sz="1600" dirty="0"/>
              <a:t>citizen[</a:t>
            </a:r>
            <a:r>
              <a:rPr lang="en-US" sz="1600" dirty="0" err="1"/>
              <a:t>i</a:t>
            </a:r>
            <a:r>
              <a:rPr lang="en-US" sz="1600" dirty="0"/>
              <a:t>]</a:t>
            </a:r>
          </a:p>
          <a:p>
            <a:pPr marL="457200" lvl="1" indent="0">
              <a:buNone/>
            </a:pPr>
            <a:r>
              <a:rPr lang="en-US" sz="1600" dirty="0"/>
              <a:t>age[</a:t>
            </a:r>
            <a:r>
              <a:rPr lang="en-US" sz="1600" dirty="0" err="1"/>
              <a:t>i</a:t>
            </a:r>
            <a:r>
              <a:rPr lang="en-US" sz="1600" dirty="0"/>
              <a:t>]</a:t>
            </a:r>
          </a:p>
          <a:p>
            <a:pPr marL="457200" lvl="1" indent="0">
              <a:buNone/>
            </a:pPr>
            <a:r>
              <a:rPr lang="en-US" sz="1600" dirty="0"/>
              <a:t>gender[</a:t>
            </a:r>
            <a:r>
              <a:rPr lang="en-US" sz="1600" dirty="0" err="1"/>
              <a:t>i</a:t>
            </a:r>
            <a:r>
              <a:rPr lang="en-US" sz="1600" dirty="0"/>
              <a:t>]</a:t>
            </a:r>
          </a:p>
          <a:p>
            <a:pPr marL="457200" lvl="1" indent="0">
              <a:buNone/>
            </a:pPr>
            <a:r>
              <a:rPr lang="en-US" sz="1600" dirty="0" err="1"/>
              <a:t>cnic</a:t>
            </a:r>
            <a:r>
              <a:rPr lang="en-US" sz="1600" dirty="0"/>
              <a:t>[</a:t>
            </a:r>
            <a:r>
              <a:rPr lang="en-US" sz="1600" dirty="0" err="1"/>
              <a:t>i</a:t>
            </a:r>
            <a:r>
              <a:rPr lang="en-US" sz="1600" dirty="0"/>
              <a:t>]</a:t>
            </a:r>
          </a:p>
          <a:p>
            <a:pPr marL="457200" lvl="1" indent="0">
              <a:buNone/>
            </a:pPr>
            <a:r>
              <a:rPr lang="en-US" sz="1600" dirty="0"/>
              <a:t>status[</a:t>
            </a:r>
            <a:r>
              <a:rPr lang="en-US" sz="1600" dirty="0" err="1"/>
              <a:t>i</a:t>
            </a:r>
            <a:r>
              <a:rPr lang="en-US" sz="1600" dirty="0"/>
              <a:t>]</a:t>
            </a:r>
          </a:p>
          <a:p>
            <a:pPr marL="457200" lvl="1" indent="0">
              <a:buNone/>
            </a:pPr>
            <a:r>
              <a:rPr lang="en-US" sz="1600" dirty="0"/>
              <a:t>working[</a:t>
            </a:r>
            <a:r>
              <a:rPr lang="en-US" sz="1600" dirty="0" err="1"/>
              <a:t>i</a:t>
            </a:r>
            <a:r>
              <a:rPr lang="en-US" sz="1600" dirty="0"/>
              <a:t>]</a:t>
            </a:r>
            <a:br>
              <a:rPr lang="en-US" sz="1600" dirty="0"/>
            </a:br>
            <a:r>
              <a:rPr lang="en-US" sz="1600" dirty="0"/>
              <a:t>c. If working[</a:t>
            </a:r>
            <a:r>
              <a:rPr lang="en-US" sz="1600" dirty="0" err="1"/>
              <a:t>i</a:t>
            </a:r>
            <a:r>
              <a:rPr lang="en-US" sz="1600" dirty="0"/>
              <a:t>] == 1, then input job Type[</a:t>
            </a:r>
            <a:r>
              <a:rPr lang="en-US" sz="1600" dirty="0" err="1"/>
              <a:t>i</a:t>
            </a:r>
            <a:r>
              <a:rPr lang="en-US" sz="1600" dirty="0"/>
              <a:t>], else set job Type[</a:t>
            </a:r>
            <a:r>
              <a:rPr lang="en-US" sz="1600" dirty="0" err="1"/>
              <a:t>i</a:t>
            </a:r>
            <a:r>
              <a:rPr lang="en-US" sz="1600" dirty="0"/>
              <a:t>] = 0</a:t>
            </a:r>
            <a:r>
              <a:rPr lang="en-US" sz="1600" dirty="0" smtClean="0"/>
              <a:t>.</a:t>
            </a:r>
          </a:p>
          <a:p>
            <a:pPr marL="457200" lvl="1" indent="0">
              <a:buNone/>
            </a:pPr>
            <a:r>
              <a:rPr lang="en-US" sz="1600" dirty="0"/>
              <a:t>"===== Voting Eligibility Results </a:t>
            </a:r>
            <a:r>
              <a:rPr lang="en-US" sz="1600" dirty="0" smtClean="0"/>
              <a:t>=====".</a:t>
            </a:r>
          </a:p>
          <a:p>
            <a:pPr marL="457200" lvl="1" indent="0">
              <a:buNone/>
            </a:pPr>
            <a:r>
              <a:rPr lang="en-US" sz="1600" dirty="0"/>
              <a:t>If citizen[</a:t>
            </a:r>
            <a:r>
              <a:rPr lang="en-US" sz="1600" dirty="0" err="1"/>
              <a:t>i</a:t>
            </a:r>
            <a:r>
              <a:rPr lang="en-US" sz="1600" dirty="0"/>
              <a:t>] == "Pakistan" AND age[</a:t>
            </a:r>
            <a:r>
              <a:rPr lang="en-US" sz="1600" dirty="0" err="1"/>
              <a:t>i</a:t>
            </a:r>
            <a:r>
              <a:rPr lang="en-US" sz="1600" dirty="0"/>
              <a:t>] &gt;= 18 AND age[</a:t>
            </a:r>
            <a:r>
              <a:rPr lang="en-US" sz="1600" dirty="0" err="1"/>
              <a:t>i</a:t>
            </a:r>
            <a:r>
              <a:rPr lang="en-US" sz="1600" dirty="0"/>
              <a:t>] &lt; 110 AND </a:t>
            </a:r>
            <a:r>
              <a:rPr lang="en-US" sz="1600" dirty="0" err="1"/>
              <a:t>cnic</a:t>
            </a:r>
            <a:r>
              <a:rPr lang="en-US" sz="1600" dirty="0"/>
              <a:t>[</a:t>
            </a:r>
            <a:r>
              <a:rPr lang="en-US" sz="1600" dirty="0" err="1"/>
              <a:t>i</a:t>
            </a:r>
            <a:r>
              <a:rPr lang="en-US" sz="1600" dirty="0"/>
              <a:t>] == 1,</a:t>
            </a:r>
            <a:br>
              <a:rPr lang="en-US" sz="1600" dirty="0"/>
            </a:br>
            <a:r>
              <a:rPr lang="en-US" sz="1600" dirty="0"/>
              <a:t>→ Print &amp; Write "Eligible to Vote".</a:t>
            </a:r>
          </a:p>
          <a:p>
            <a:pPr marL="0" indent="0">
              <a:buNone/>
            </a:pPr>
            <a:r>
              <a:rPr lang="en-US" sz="1600" dirty="0" smtClean="0"/>
              <a:t>	Else </a:t>
            </a:r>
            <a:r>
              <a:rPr lang="en-US" sz="1600" dirty="0"/>
              <a:t>→ Print &amp; Write "Not Eligible to Vote</a:t>
            </a:r>
            <a:r>
              <a:rPr lang="en-US" sz="1600" dirty="0" smtClean="0"/>
              <a:t>".</a:t>
            </a:r>
          </a:p>
          <a:p>
            <a:pPr marL="457200" lvl="1" indent="0">
              <a:buNone/>
            </a:pPr>
            <a:r>
              <a:rPr lang="en-US" sz="1600" dirty="0"/>
              <a:t>If working[</a:t>
            </a:r>
            <a:r>
              <a:rPr lang="en-US" sz="1600" dirty="0" err="1"/>
              <a:t>i</a:t>
            </a:r>
            <a:r>
              <a:rPr lang="en-US" sz="1600" dirty="0"/>
              <a:t>] == </a:t>
            </a:r>
            <a:r>
              <a:rPr lang="en-US" sz="1600" dirty="0" smtClean="0"/>
              <a:t>1:</a:t>
            </a:r>
          </a:p>
          <a:p>
            <a:pPr marL="457200" lvl="1" indent="0">
              <a:buNone/>
            </a:pPr>
            <a:r>
              <a:rPr lang="en-US" sz="1600" dirty="0" smtClean="0"/>
              <a:t>If </a:t>
            </a:r>
            <a:r>
              <a:rPr lang="en-US" sz="1600" dirty="0"/>
              <a:t>job Type[</a:t>
            </a:r>
            <a:r>
              <a:rPr lang="en-US" sz="1600" dirty="0" err="1"/>
              <a:t>i</a:t>
            </a:r>
            <a:r>
              <a:rPr lang="en-US" sz="1600" dirty="0"/>
              <a:t>] == 1 → Write "Government Worker</a:t>
            </a:r>
            <a:r>
              <a:rPr lang="en-US" sz="1600" dirty="0" smtClean="0"/>
              <a:t>".</a:t>
            </a:r>
          </a:p>
          <a:p>
            <a:pPr marL="457200" lvl="1" indent="0">
              <a:buNone/>
            </a:pPr>
            <a:r>
              <a:rPr lang="en-US" sz="1600" dirty="0" smtClean="0"/>
              <a:t>If </a:t>
            </a:r>
            <a:r>
              <a:rPr lang="en-US" sz="1600" dirty="0"/>
              <a:t>job Type[</a:t>
            </a:r>
            <a:r>
              <a:rPr lang="en-US" sz="1600" dirty="0" err="1"/>
              <a:t>i</a:t>
            </a:r>
            <a:r>
              <a:rPr lang="en-US" sz="1600" dirty="0"/>
              <a:t>] == 2 → Write "Private Worker</a:t>
            </a:r>
            <a:r>
              <a:rPr lang="en-US" sz="1600" dirty="0" smtClean="0"/>
              <a:t>".</a:t>
            </a:r>
            <a:endParaRPr lang="en-US" sz="1600" dirty="0"/>
          </a:p>
          <a:p>
            <a:pPr marL="0" indent="0">
              <a:buNone/>
            </a:pPr>
            <a:r>
              <a:rPr lang="en-US" sz="1600" dirty="0" smtClean="0"/>
              <a:t>	Else </a:t>
            </a:r>
            <a:r>
              <a:rPr lang="en-US" sz="1600" dirty="0"/>
              <a:t>→ Write "</a:t>
            </a:r>
            <a:r>
              <a:rPr lang="en-US" sz="1600" dirty="0" smtClean="0"/>
              <a:t>Jobless</a:t>
            </a:r>
          </a:p>
          <a:p>
            <a:pPr marL="0" lvl="0" indent="0">
              <a:buNone/>
            </a:pPr>
            <a:r>
              <a:rPr lang="en-US" sz="1600" b="1" dirty="0" smtClean="0"/>
              <a:t>	End</a:t>
            </a:r>
            <a:r>
              <a:rPr lang="en-US" sz="1600" b="1" dirty="0"/>
              <a:t>.</a:t>
            </a:r>
            <a:endParaRPr lang="en-US" sz="1600" dirty="0"/>
          </a:p>
          <a:p>
            <a:pPr marL="0" indent="0">
              <a:buNone/>
            </a:pPr>
            <a:endParaRPr lang="en-US" sz="1600" dirty="0" smtClean="0"/>
          </a:p>
          <a:p>
            <a:pPr marL="0" indent="0">
              <a:buNone/>
            </a:pPr>
            <a:r>
              <a:rPr lang="en-US" sz="1600" dirty="0"/>
              <a:t/>
            </a:r>
            <a:br>
              <a:rPr lang="en-US" sz="1600" dirty="0"/>
            </a:br>
            <a:endParaRPr lang="en-US" sz="1600" dirty="0"/>
          </a:p>
          <a:p>
            <a:pPr marL="0" indent="0">
              <a:buNone/>
            </a:pPr>
            <a:endParaRPr lang="en-US" sz="1600" dirty="0"/>
          </a:p>
        </p:txBody>
      </p:sp>
    </p:spTree>
    <p:extLst>
      <p:ext uri="{BB962C8B-B14F-4D97-AF65-F5344CB8AC3E}">
        <p14:creationId xmlns:p14="http://schemas.microsoft.com/office/powerpoint/2010/main" val="1133051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29"/>
            <a:ext cx="7772400" cy="1470025"/>
          </a:xfrm>
        </p:spPr>
        <p:txBody>
          <a:bodyPr/>
          <a:lstStyle/>
          <a:p>
            <a:r>
              <a:rPr dirty="0"/>
              <a:t>Conclusion</a:t>
            </a:r>
          </a:p>
        </p:txBody>
      </p:sp>
      <p:sp>
        <p:nvSpPr>
          <p:cNvPr id="3" name="Subtitle 2"/>
          <p:cNvSpPr>
            <a:spLocks noGrp="1"/>
          </p:cNvSpPr>
          <p:nvPr>
            <p:ph type="subTitle" idx="1"/>
          </p:nvPr>
        </p:nvSpPr>
        <p:spPr>
          <a:xfrm>
            <a:off x="1371600" y="1286741"/>
            <a:ext cx="6400800" cy="1752600"/>
          </a:xfrm>
        </p:spPr>
        <p:txBody>
          <a:bodyPr>
            <a:normAutofit fontScale="25000" lnSpcReduction="20000"/>
          </a:bodyPr>
          <a:lstStyle/>
          <a:p>
            <a:r>
              <a:rPr lang="en-US" sz="9600" dirty="0">
                <a:solidFill>
                  <a:schemeClr val="tx1"/>
                </a:solidFill>
                <a:latin typeface="Bahnschrift" panose="020B0502040204020203" pitchFamily="34" charset="0"/>
              </a:rPr>
              <a:t>This C program implements a </a:t>
            </a:r>
            <a:r>
              <a:rPr lang="en-US" sz="9600" b="1" dirty="0">
                <a:solidFill>
                  <a:schemeClr val="tx1"/>
                </a:solidFill>
                <a:latin typeface="Bahnschrift" panose="020B0502040204020203" pitchFamily="34" charset="0"/>
              </a:rPr>
              <a:t>voting eligibility system</a:t>
            </a:r>
            <a:r>
              <a:rPr lang="en-US" sz="9600" dirty="0">
                <a:solidFill>
                  <a:schemeClr val="tx1"/>
                </a:solidFill>
                <a:latin typeface="Bahnschrift" panose="020B0502040204020203" pitchFamily="34" charset="0"/>
              </a:rPr>
              <a:t> that collects and processes personal </a:t>
            </a:r>
            <a:r>
              <a:rPr lang="en-US" sz="8000" dirty="0">
                <a:solidFill>
                  <a:schemeClr val="tx1"/>
                </a:solidFill>
                <a:latin typeface="Bahnschrift" panose="020B0502040204020203" pitchFamily="34" charset="0"/>
              </a:rPr>
              <a:t>information</a:t>
            </a:r>
            <a:r>
              <a:rPr lang="en-US" sz="9600" dirty="0">
                <a:solidFill>
                  <a:schemeClr val="tx1"/>
                </a:solidFill>
                <a:latin typeface="Bahnschrift" panose="020B0502040204020203" pitchFamily="34" charset="0"/>
              </a:rPr>
              <a:t> of multiple individuals using </a:t>
            </a:r>
            <a:r>
              <a:rPr lang="en-US" sz="9600" b="1" dirty="0">
                <a:solidFill>
                  <a:schemeClr val="tx1"/>
                </a:solidFill>
                <a:latin typeface="Bahnschrift" panose="020B0502040204020203" pitchFamily="34" charset="0"/>
              </a:rPr>
              <a:t>arrays</a:t>
            </a:r>
            <a:r>
              <a:rPr lang="en-US" sz="9600" dirty="0">
                <a:solidFill>
                  <a:schemeClr val="tx1"/>
                </a:solidFill>
                <a:latin typeface="Bahnschrift" panose="020B0502040204020203" pitchFamily="34" charset="0"/>
              </a:rPr>
              <a:t>. For each individual, the program records their </a:t>
            </a:r>
            <a:r>
              <a:rPr lang="en-US" sz="9600" b="1" dirty="0">
                <a:solidFill>
                  <a:schemeClr val="tx1"/>
                </a:solidFill>
                <a:latin typeface="Bahnschrift" panose="020B0502040204020203" pitchFamily="34" charset="0"/>
              </a:rPr>
              <a:t>citizenship</a:t>
            </a:r>
            <a:r>
              <a:rPr lang="en-US" sz="9600" dirty="0">
                <a:solidFill>
                  <a:schemeClr val="tx1"/>
                </a:solidFill>
                <a:latin typeface="Bahnschrift" panose="020B0502040204020203" pitchFamily="34" charset="0"/>
              </a:rPr>
              <a:t>, </a:t>
            </a:r>
            <a:r>
              <a:rPr lang="en-US" sz="9600" b="1" dirty="0">
                <a:solidFill>
                  <a:schemeClr val="tx1"/>
                </a:solidFill>
                <a:latin typeface="Bahnschrift" panose="020B0502040204020203" pitchFamily="34" charset="0"/>
              </a:rPr>
              <a:t>age</a:t>
            </a:r>
            <a:r>
              <a:rPr lang="en-US" sz="9600" dirty="0">
                <a:solidFill>
                  <a:schemeClr val="tx1"/>
                </a:solidFill>
                <a:latin typeface="Bahnschrift" panose="020B0502040204020203" pitchFamily="34" charset="0"/>
              </a:rPr>
              <a:t>, </a:t>
            </a:r>
            <a:r>
              <a:rPr lang="en-US" sz="9600" b="1" dirty="0">
                <a:solidFill>
                  <a:schemeClr val="tx1"/>
                </a:solidFill>
                <a:latin typeface="Bahnschrift" panose="020B0502040204020203" pitchFamily="34" charset="0"/>
              </a:rPr>
              <a:t>CNIC possession</a:t>
            </a:r>
            <a:r>
              <a:rPr lang="en-US" sz="9600" dirty="0">
                <a:solidFill>
                  <a:schemeClr val="tx1"/>
                </a:solidFill>
                <a:latin typeface="Bahnschrift" panose="020B0502040204020203" pitchFamily="34" charset="0"/>
              </a:rPr>
              <a:t>, </a:t>
            </a:r>
            <a:r>
              <a:rPr lang="en-US" sz="9600" b="1" dirty="0">
                <a:solidFill>
                  <a:schemeClr val="tx1"/>
                </a:solidFill>
                <a:latin typeface="Bahnschrift" panose="020B0502040204020203" pitchFamily="34" charset="0"/>
              </a:rPr>
              <a:t>current status</a:t>
            </a:r>
            <a:r>
              <a:rPr lang="en-US" sz="9600" dirty="0">
                <a:solidFill>
                  <a:schemeClr val="tx1"/>
                </a:solidFill>
                <a:latin typeface="Bahnschrift" panose="020B0502040204020203" pitchFamily="34" charset="0"/>
              </a:rPr>
              <a:t> (abroad or in-country), and </a:t>
            </a:r>
            <a:r>
              <a:rPr lang="en-US" sz="9600" b="1" dirty="0">
                <a:solidFill>
                  <a:schemeClr val="tx1"/>
                </a:solidFill>
                <a:latin typeface="Bahnschrift" panose="020B0502040204020203" pitchFamily="34" charset="0"/>
              </a:rPr>
              <a:t>employment details</a:t>
            </a:r>
            <a:r>
              <a:rPr lang="en-US" sz="9600" dirty="0">
                <a:solidFill>
                  <a:schemeClr val="tx1"/>
                </a:solidFill>
                <a:latin typeface="Bahnschrift" panose="020B0502040204020203" pitchFamily="34" charset="0"/>
              </a:rPr>
              <a:t> (jobless, government, or private worker). The program then evaluates whether each individual is </a:t>
            </a:r>
            <a:r>
              <a:rPr lang="en-US" sz="9600" b="1" dirty="0">
                <a:solidFill>
                  <a:schemeClr val="tx1"/>
                </a:solidFill>
                <a:latin typeface="Bahnschrift" panose="020B0502040204020203" pitchFamily="34" charset="0"/>
              </a:rPr>
              <a:t>eligible to vote</a:t>
            </a:r>
            <a:r>
              <a:rPr lang="en-US" sz="9600" dirty="0">
                <a:solidFill>
                  <a:schemeClr val="tx1"/>
                </a:solidFill>
                <a:latin typeface="Bahnschrift" panose="020B0502040204020203" pitchFamily="34" charset="0"/>
              </a:rPr>
              <a:t> based on the criteria: being a citizen of Pakistan, aged between 18 and 109 years, and possessing a valid CNIC. The results, including voting eligibility and employment details, are displayed for each individual. This program demonstrates the use of arrays for storing multiple entries, conditional statements for eligibility checks, and string comparison functions to verify citizenship</a:t>
            </a:r>
            <a:r>
              <a:rPr lang="en-US" dirty="0">
                <a:latin typeface="Bahnschrift" panose="020B0502040204020203" pitchFamily="34" charset="0"/>
              </a:rPr>
              <a:t>.</a:t>
            </a:r>
          </a:p>
          <a:p>
            <a:endParaRPr dirty="0">
              <a:latin typeface="Bahnschrift" panose="020B05020402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536</Words>
  <Application>Microsoft Office PowerPoint</Application>
  <PresentationFormat>On-screen Show (4:3)</PresentationFormat>
  <Paragraphs>96</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Black</vt:lpstr>
      <vt:lpstr>Bahnschrift</vt:lpstr>
      <vt:lpstr>Calibri</vt:lpstr>
      <vt:lpstr>Office Theme</vt:lpstr>
      <vt:lpstr>Intro</vt:lpstr>
      <vt:lpstr>Flowchart</vt:lpstr>
      <vt:lpstr> </vt:lpstr>
      <vt:lpstr> </vt:lpstr>
      <vt:lpstr> </vt:lpstr>
      <vt:lpstr>The Code</vt:lpstr>
      <vt:lpstr> </vt:lpstr>
      <vt:lpstr>The Output of Code</vt:lpstr>
      <vt:lpstr>The Code Output</vt:lpstr>
      <vt:lpstr>Dry Run Table</vt:lpstr>
      <vt:lpstr>CCP Data</vt:lpstr>
      <vt:lpstr> </vt:lpstr>
      <vt:lpstr>The Pseudo Code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c:title>
  <dc:subject/>
  <dc:creator>HP</dc:creator>
  <cp:keywords/>
  <dc:description>generated using python-pptx</dc:description>
  <cp:lastModifiedBy>HP</cp:lastModifiedBy>
  <cp:revision>12</cp:revision>
  <dcterms:created xsi:type="dcterms:W3CDTF">2013-01-27T09:14:16Z</dcterms:created>
  <dcterms:modified xsi:type="dcterms:W3CDTF">2025-11-13T15:16:51Z</dcterms:modified>
  <cp:category/>
</cp:coreProperties>
</file>